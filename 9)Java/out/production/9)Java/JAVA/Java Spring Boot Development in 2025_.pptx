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Funnel Sans" pitchFamily="2" charset="0"/>
      <p:regular r:id="rId14"/>
      <p:bold r:id="rId15"/>
      <p:italic r:id="rId16"/>
      <p:boldItalic r:id="rId17"/>
    </p:embeddedFont>
    <p:embeddedFont>
      <p:font typeface="Mona Sans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. syed" initials="ks" lastIdx="1" clrIdx="0">
    <p:extLst>
      <p:ext uri="{19B8F6BF-5375-455C-9EA6-DF929625EA0E}">
        <p15:presenceInfo xmlns:p15="http://schemas.microsoft.com/office/powerpoint/2012/main" userId="4daf28fd606319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font" Target="fonts/font5.fntdata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font" Target="fonts/font8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4.fntdata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font" Target="fonts/font7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font" Target="fonts/font6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Relationship Id="rId22" Type="http://schemas.openxmlformats.org/officeDocument/2006/relationships/commentAuthors" Target="commentAuthor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73B4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4D6DD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84E5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1F4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73B4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1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9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23.png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1AF5E-E6A7-3129-0A62-48CCB3B521E9}"/>
              </a:ext>
            </a:extLst>
          </p:cNvPr>
          <p:cNvSpPr txBox="1"/>
          <p:nvPr/>
        </p:nvSpPr>
        <p:spPr>
          <a:xfrm>
            <a:off x="3850574" y="3093522"/>
            <a:ext cx="7401296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0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52710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lang="en-US" sz="44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Java Spring Boot Development in 2025:</a:t>
            </a:r>
            <a:endParaRPr sz="445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6280190" y="428482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lang="en-US" sz="44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Unlocking Career Opportunities</a:t>
            </a:r>
            <a:endParaRPr sz="44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3067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682347" y="536138"/>
            <a:ext cx="7779306" cy="2522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2E4E9"/>
              </a:buClr>
              <a:buSzPts val="5250"/>
              <a:buFont typeface="Mona Sans"/>
              <a:buNone/>
            </a:pPr>
            <a:r>
              <a:rPr lang="en-US" sz="5250" b="0" i="0" u="none" strike="noStrike" cap="none">
                <a:solidFill>
                  <a:srgbClr val="E2E4E9"/>
                </a:solidFill>
                <a:latin typeface="Mona Sans"/>
                <a:ea typeface="Mona Sans"/>
                <a:cs typeface="Mona Sans"/>
                <a:sym typeface="Mona Sans"/>
              </a:rPr>
              <a:t>Why Spring Boot Remains a Top Choice in 2025</a:t>
            </a:r>
            <a:endParaRPr sz="5250" b="0" i="0" u="none" strike="noStrike" cap="none"/>
          </a:p>
        </p:txBody>
      </p:sp>
      <p:sp>
        <p:nvSpPr>
          <p:cNvPr id="66" name="Google Shape;66;p14"/>
          <p:cNvSpPr/>
          <p:nvPr/>
        </p:nvSpPr>
        <p:spPr>
          <a:xfrm>
            <a:off x="682347" y="3351014"/>
            <a:ext cx="3792141" cy="2230279"/>
          </a:xfrm>
          <a:prstGeom prst="roundRect">
            <a:avLst>
              <a:gd name="adj" fmla="val 3672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884873" y="3553539"/>
            <a:ext cx="584954" cy="584954"/>
          </a:xfrm>
          <a:prstGeom prst="roundRect">
            <a:avLst>
              <a:gd name="adj" fmla="val 1563043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26" y="3681532"/>
            <a:ext cx="263128" cy="3289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884873" y="4333399"/>
            <a:ext cx="2437328" cy="30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ona Sans"/>
              <a:buNone/>
            </a:pPr>
            <a:r>
              <a:rPr lang="en-US" sz="19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Enterprise Standard</a:t>
            </a:r>
            <a:endParaRPr sz="190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884873" y="4754880"/>
            <a:ext cx="3387090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Funnel Sans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De facto for backend systems</a:t>
            </a:r>
            <a:endParaRPr sz="1500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4669393" y="3351014"/>
            <a:ext cx="3792260" cy="2230279"/>
          </a:xfrm>
          <a:prstGeom prst="roundRect">
            <a:avLst>
              <a:gd name="adj" fmla="val 3672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4871918" y="3553539"/>
            <a:ext cx="584954" cy="584954"/>
          </a:xfrm>
          <a:prstGeom prst="roundRect">
            <a:avLst>
              <a:gd name="adj" fmla="val 1563043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772" y="3681532"/>
            <a:ext cx="263128" cy="32897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4871918" y="4333399"/>
            <a:ext cx="3071098" cy="30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ona Sans"/>
              <a:buNone/>
            </a:pPr>
            <a:r>
              <a:rPr lang="en-US" sz="19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Cloud-Native Powerhouse</a:t>
            </a:r>
            <a:endParaRPr sz="190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4871918" y="4754880"/>
            <a:ext cx="3387209" cy="62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Funnel Sans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Scalable microservices for Fortune 500</a:t>
            </a:r>
            <a:endParaRPr sz="15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682347" y="5776198"/>
            <a:ext cx="7779306" cy="1918335"/>
          </a:xfrm>
          <a:prstGeom prst="roundRect">
            <a:avLst>
              <a:gd name="adj" fmla="val 4269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884873" y="5978723"/>
            <a:ext cx="584954" cy="584954"/>
          </a:xfrm>
          <a:prstGeom prst="roundRect">
            <a:avLst>
              <a:gd name="adj" fmla="val 1563043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5726" y="6106716"/>
            <a:ext cx="263128" cy="3289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/>
          <p:nvPr/>
        </p:nvSpPr>
        <p:spPr>
          <a:xfrm>
            <a:off x="884873" y="6758583"/>
            <a:ext cx="2804160" cy="30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ona Sans"/>
              <a:buNone/>
            </a:pPr>
            <a:r>
              <a:rPr lang="en-US" sz="19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Simplified Development</a:t>
            </a:r>
            <a:endParaRPr sz="190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884873" y="7180064"/>
            <a:ext cx="7374255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Funnel Sans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Convention-over-configuration, rich ecosystem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992386"/>
            <a:ext cx="6244709" cy="6244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7599521" y="964049"/>
            <a:ext cx="6244709" cy="29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6150"/>
              <a:buFont typeface="Mona Sans"/>
              <a:buNone/>
            </a:pPr>
            <a:r>
              <a:rPr lang="en-US" sz="61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Java’s Enduring Dominance in 2025</a:t>
            </a:r>
            <a:endParaRPr sz="6150" b="0" i="0" u="none" strike="noStrike" cap="none"/>
          </a:p>
        </p:txBody>
      </p:sp>
      <p:sp>
        <p:nvSpPr>
          <p:cNvPr id="88" name="Google Shape;88;p15"/>
          <p:cNvSpPr/>
          <p:nvPr/>
        </p:nvSpPr>
        <p:spPr>
          <a:xfrm>
            <a:off x="7599521" y="4125516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750"/>
              <a:buFont typeface="Funnel Sans"/>
              <a:buChar char="•"/>
            </a:pPr>
            <a:r>
              <a:rPr lang="en-US" sz="1750" b="1" i="0" u="none" strike="noStrike" cap="non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90%+ Fortune 500 reliance</a:t>
            </a:r>
            <a:endParaRPr sz="1750" b="0" i="0" u="none" strike="noStrike" cap="none"/>
          </a:p>
        </p:txBody>
      </p:sp>
      <p:sp>
        <p:nvSpPr>
          <p:cNvPr id="89" name="Google Shape;89;p15"/>
          <p:cNvSpPr/>
          <p:nvPr/>
        </p:nvSpPr>
        <p:spPr>
          <a:xfrm>
            <a:off x="7599521" y="4567714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Modern features: lambda, modules, records</a:t>
            </a:r>
            <a:endParaRPr sz="1750" b="0" i="0" u="none" strike="noStrike" cap="none"/>
          </a:p>
        </p:txBody>
      </p:sp>
      <p:sp>
        <p:nvSpPr>
          <p:cNvPr id="90" name="Google Shape;90;p15"/>
          <p:cNvSpPr/>
          <p:nvPr/>
        </p:nvSpPr>
        <p:spPr>
          <a:xfrm>
            <a:off x="7599521" y="500991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Strong ecosystem &amp; community support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1995964" y="1473279"/>
            <a:ext cx="10638473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550"/>
              <a:buFont typeface="Mona Sans"/>
              <a:buNone/>
            </a:pPr>
            <a:r>
              <a:rPr lang="en-US" sz="35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Essential Skills for Spring Boot Developers Today</a:t>
            </a:r>
            <a:endParaRPr sz="3550" b="0" i="0" u="none" strike="noStrike" cap="none"/>
          </a:p>
        </p:txBody>
      </p:sp>
      <p:sp>
        <p:nvSpPr>
          <p:cNvPr id="97" name="Google Shape;97;p16"/>
          <p:cNvSpPr/>
          <p:nvPr/>
        </p:nvSpPr>
        <p:spPr>
          <a:xfrm>
            <a:off x="793790" y="2834045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793790" y="280356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657540" y="249388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1614" y="2664023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1051084" y="34010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Core Java Mastery</a:t>
            </a:r>
            <a:endParaRPr sz="2200" b="0" i="0" u="none" strike="noStrike" cap="none"/>
          </a:p>
        </p:txBody>
      </p:sp>
      <p:sp>
        <p:nvSpPr>
          <p:cNvPr id="102" name="Google Shape;102;p16"/>
          <p:cNvSpPr/>
          <p:nvPr/>
        </p:nvSpPr>
        <p:spPr>
          <a:xfrm>
            <a:off x="1051084" y="3891439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Fundamentals &amp; modern language features</a:t>
            </a:r>
            <a:endParaRPr sz="1750" b="0" i="0" u="none" strike="noStrike" cap="none"/>
          </a:p>
        </p:txBody>
      </p:sp>
      <p:sp>
        <p:nvSpPr>
          <p:cNvPr id="103" name="Google Shape;103;p16"/>
          <p:cNvSpPr/>
          <p:nvPr/>
        </p:nvSpPr>
        <p:spPr>
          <a:xfrm>
            <a:off x="7428548" y="2834045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428548" y="2803565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0292298" y="249388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6371" y="2664023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7685842" y="3401020"/>
            <a:ext cx="305621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Spring Core Deep Dive</a:t>
            </a:r>
            <a:endParaRPr sz="2200" b="0" i="0" u="none" strike="noStrike" cap="none"/>
          </a:p>
        </p:txBody>
      </p:sp>
      <p:sp>
        <p:nvSpPr>
          <p:cNvPr id="108" name="Google Shape;108;p16"/>
          <p:cNvSpPr/>
          <p:nvPr/>
        </p:nvSpPr>
        <p:spPr>
          <a:xfrm>
            <a:off x="7685842" y="3891439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DI, Bean lifecycle, configuration</a:t>
            </a:r>
            <a:endParaRPr sz="1750" b="0" i="0" u="none" strike="noStrike" cap="none"/>
          </a:p>
        </p:txBody>
      </p:sp>
      <p:sp>
        <p:nvSpPr>
          <p:cNvPr id="109" name="Google Shape;109;p16"/>
          <p:cNvSpPr/>
          <p:nvPr/>
        </p:nvSpPr>
        <p:spPr>
          <a:xfrm>
            <a:off x="793790" y="5078611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793790" y="504813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657540" y="47384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1614" y="4908590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1051084" y="564558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Secure REST APIs</a:t>
            </a:r>
            <a:endParaRPr sz="2200" b="0" i="0" u="none" strike="noStrike" cap="none"/>
          </a:p>
        </p:txBody>
      </p:sp>
      <p:sp>
        <p:nvSpPr>
          <p:cNvPr id="114" name="Google Shape;114;p16"/>
          <p:cNvSpPr/>
          <p:nvPr/>
        </p:nvSpPr>
        <p:spPr>
          <a:xfrm>
            <a:off x="1051084" y="6136005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Spring Security, JWT, OAuth2</a:t>
            </a:r>
            <a:endParaRPr sz="1750" b="0" i="0" u="none" strike="noStrike" cap="none"/>
          </a:p>
        </p:txBody>
      </p:sp>
      <p:sp>
        <p:nvSpPr>
          <p:cNvPr id="115" name="Google Shape;115;p16"/>
          <p:cNvSpPr/>
          <p:nvPr/>
        </p:nvSpPr>
        <p:spPr>
          <a:xfrm>
            <a:off x="7428548" y="5078611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7428548" y="504813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0292298" y="473844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96371" y="4908590"/>
            <a:ext cx="272177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7685842" y="5645587"/>
            <a:ext cx="292215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Database Integration</a:t>
            </a:r>
            <a:endParaRPr sz="2200" b="0" i="0" u="none" strike="noStrike" cap="none"/>
          </a:p>
        </p:txBody>
      </p:sp>
      <p:sp>
        <p:nvSpPr>
          <p:cNvPr id="120" name="Google Shape;120;p16"/>
          <p:cNvSpPr/>
          <p:nvPr/>
        </p:nvSpPr>
        <p:spPr>
          <a:xfrm>
            <a:off x="7685842" y="6136005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Spring Data JPA, transactions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2045375" y="2497336"/>
            <a:ext cx="10539651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550"/>
              <a:buFont typeface="Mona Sans"/>
              <a:buNone/>
            </a:pPr>
            <a:r>
              <a:rPr lang="en-US" sz="35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Advanced Spring Boot Topics Driving Innovation</a:t>
            </a:r>
            <a:endParaRPr sz="3550" b="0" i="0" u="none" strike="noStrike" cap="none"/>
          </a:p>
        </p:txBody>
      </p:sp>
      <p:pic>
        <p:nvPicPr>
          <p:cNvPr id="127" name="Google Shape;127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351794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1020604" y="4652010"/>
            <a:ext cx="344185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Microservices &amp; Reactive</a:t>
            </a:r>
            <a:endParaRPr sz="2200" b="0" i="0" u="none" strike="noStrike" cap="none"/>
          </a:p>
        </p:txBody>
      </p:sp>
      <p:sp>
        <p:nvSpPr>
          <p:cNvPr id="129" name="Google Shape;129;p17"/>
          <p:cNvSpPr/>
          <p:nvPr/>
        </p:nvSpPr>
        <p:spPr>
          <a:xfrm>
            <a:off x="1020604" y="5142428"/>
            <a:ext cx="389393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WebFlux, event-driven design</a:t>
            </a:r>
            <a:endParaRPr sz="1750" b="0" i="0" u="none" strike="noStrike" cap="none"/>
          </a:p>
        </p:txBody>
      </p:sp>
      <p:pic>
        <p:nvPicPr>
          <p:cNvPr id="130" name="Google Shape;13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1357" y="351794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5368171" y="4652010"/>
            <a:ext cx="345626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Cloud &amp; Containerization</a:t>
            </a:r>
            <a:endParaRPr sz="22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5368171" y="5142428"/>
            <a:ext cx="389393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Docker, Kubernetes, CI/CD</a:t>
            </a:r>
            <a:endParaRPr sz="1750" b="0" i="0" u="none" strike="noStrike" cap="none"/>
          </a:p>
        </p:txBody>
      </p:sp>
      <p:pic>
        <p:nvPicPr>
          <p:cNvPr id="133" name="Google Shape;133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88924" y="3517940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9715738" y="4652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API &amp; Testing</a:t>
            </a:r>
            <a:endParaRPr sz="220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9715738" y="5142428"/>
            <a:ext cx="389393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Documentation, best practices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793790" y="1643896"/>
            <a:ext cx="7604284" cy="113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550"/>
              <a:buFont typeface="Mona Sans"/>
              <a:buNone/>
            </a:pPr>
            <a:r>
              <a:rPr lang="en-US" sz="35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Real-World Job Market Snapshot: Demand &amp; Salary Insights</a:t>
            </a:r>
            <a:endParaRPr sz="3550" b="0" i="0" u="none" strike="noStrike" cap="none"/>
          </a:p>
        </p:txBody>
      </p:sp>
      <p:sp>
        <p:nvSpPr>
          <p:cNvPr id="142" name="Google Shape;142;p18"/>
          <p:cNvSpPr/>
          <p:nvPr/>
        </p:nvSpPr>
        <p:spPr>
          <a:xfrm>
            <a:off x="793790" y="3146346"/>
            <a:ext cx="2982992" cy="283488"/>
          </a:xfrm>
          <a:prstGeom prst="roundRect">
            <a:avLst>
              <a:gd name="adj" fmla="val 33606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793790" y="3146346"/>
            <a:ext cx="59650" cy="283488"/>
          </a:xfrm>
          <a:prstGeom prst="roundRect">
            <a:avLst>
              <a:gd name="adj" fmla="val 159711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946803" y="3146346"/>
            <a:ext cx="507325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2K+</a:t>
            </a:r>
            <a:endParaRPr sz="2200" b="0" i="0" u="none" strike="noStrike" cap="none"/>
          </a:p>
        </p:txBody>
      </p:sp>
      <p:sp>
        <p:nvSpPr>
          <p:cNvPr id="145" name="Google Shape;145;p18"/>
          <p:cNvSpPr/>
          <p:nvPr/>
        </p:nvSpPr>
        <p:spPr>
          <a:xfrm>
            <a:off x="793790" y="3713202"/>
            <a:ext cx="366033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Open jobs in US alone</a:t>
            </a:r>
            <a:endParaRPr sz="1750" b="0" i="0" u="none" strike="noStrike" cap="none"/>
          </a:p>
        </p:txBody>
      </p:sp>
      <p:sp>
        <p:nvSpPr>
          <p:cNvPr id="146" name="Google Shape;146;p18"/>
          <p:cNvSpPr/>
          <p:nvPr/>
        </p:nvSpPr>
        <p:spPr>
          <a:xfrm>
            <a:off x="4737616" y="3146346"/>
            <a:ext cx="2654141" cy="283488"/>
          </a:xfrm>
          <a:prstGeom prst="roundRect">
            <a:avLst>
              <a:gd name="adj" fmla="val 33606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737616" y="3146346"/>
            <a:ext cx="2654141" cy="283488"/>
          </a:xfrm>
          <a:prstGeom prst="roundRect">
            <a:avLst>
              <a:gd name="adj" fmla="val 33606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561778" y="3146346"/>
            <a:ext cx="836295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$133K</a:t>
            </a:r>
            <a:endParaRPr sz="220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4737616" y="3713202"/>
            <a:ext cx="366045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Average remote salary</a:t>
            </a:r>
            <a:endParaRPr sz="1750" b="0" i="0" u="none" strike="noStrike" cap="none"/>
          </a:p>
        </p:txBody>
      </p:sp>
      <p:sp>
        <p:nvSpPr>
          <p:cNvPr id="150" name="Google Shape;150;p18"/>
          <p:cNvSpPr/>
          <p:nvPr/>
        </p:nvSpPr>
        <p:spPr>
          <a:xfrm>
            <a:off x="793790" y="4643080"/>
            <a:ext cx="2659737" cy="283488"/>
          </a:xfrm>
          <a:prstGeom prst="roundRect">
            <a:avLst>
              <a:gd name="adj" fmla="val 33606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93790" y="4643080"/>
            <a:ext cx="2659737" cy="283488"/>
          </a:xfrm>
          <a:prstGeom prst="roundRect">
            <a:avLst>
              <a:gd name="adj" fmla="val 33606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623548" y="4643080"/>
            <a:ext cx="830580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$251K</a:t>
            </a:r>
            <a:endParaRPr sz="2200" b="0" i="0" u="none" strike="noStrike" cap="none"/>
          </a:p>
        </p:txBody>
      </p:sp>
      <p:sp>
        <p:nvSpPr>
          <p:cNvPr id="153" name="Google Shape;153;p18"/>
          <p:cNvSpPr/>
          <p:nvPr/>
        </p:nvSpPr>
        <p:spPr>
          <a:xfrm>
            <a:off x="793790" y="5209937"/>
            <a:ext cx="366033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Lead developer potential</a:t>
            </a:r>
            <a:endParaRPr sz="1750" b="0" i="0" u="none" strike="noStrike" cap="none"/>
          </a:p>
        </p:txBody>
      </p:sp>
      <p:pic>
        <p:nvPicPr>
          <p:cNvPr id="154" name="Google Shape;154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59096" y="1672233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793790" y="2044303"/>
            <a:ext cx="13042821" cy="195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F1F1F4"/>
              </a:buClr>
              <a:buSzPts val="6150"/>
              <a:buFont typeface="Mona Sans"/>
              <a:buNone/>
            </a:pPr>
            <a:r>
              <a:rPr lang="en-US" sz="6150" b="0" i="0" u="none" strike="noStrike" cap="none">
                <a:solidFill>
                  <a:srgbClr val="F1F1F4"/>
                </a:solidFill>
                <a:latin typeface="Mona Sans"/>
                <a:ea typeface="Mona Sans"/>
                <a:cs typeface="Mona Sans"/>
                <a:sym typeface="Mona Sans"/>
              </a:rPr>
              <a:t>Career Growth &amp; Development Opportunities</a:t>
            </a:r>
            <a:endParaRPr sz="6150" b="0" i="0" u="none" strike="noStrike" cap="none"/>
          </a:p>
        </p:txBody>
      </p:sp>
      <p:sp>
        <p:nvSpPr>
          <p:cNvPr id="161" name="Google Shape;161;p19"/>
          <p:cNvSpPr/>
          <p:nvPr/>
        </p:nvSpPr>
        <p:spPr>
          <a:xfrm>
            <a:off x="793790" y="4454366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484E5F">
              <a:alpha val="74901"/>
            </a:srgbClr>
          </a:solidFill>
          <a:ln w="3047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763310" y="445436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1142524" y="471166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Global Projects</a:t>
            </a:r>
            <a:endParaRPr sz="2200" b="0" i="0" u="none" strike="noStrike" cap="none"/>
          </a:p>
        </p:txBody>
      </p:sp>
      <p:sp>
        <p:nvSpPr>
          <p:cNvPr id="164" name="Google Shape;164;p19"/>
          <p:cNvSpPr/>
          <p:nvPr/>
        </p:nvSpPr>
        <p:spPr>
          <a:xfrm>
            <a:off x="1142524" y="5202079"/>
            <a:ext cx="359033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EPAM, Accenture: certifications, tech talks</a:t>
            </a:r>
            <a:endParaRPr sz="1750" b="0" i="0" u="none" strike="noStrike" cap="none"/>
          </a:p>
        </p:txBody>
      </p:sp>
      <p:sp>
        <p:nvSpPr>
          <p:cNvPr id="165" name="Google Shape;165;p19"/>
          <p:cNvSpPr/>
          <p:nvPr/>
        </p:nvSpPr>
        <p:spPr>
          <a:xfrm>
            <a:off x="5216962" y="4454366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484E5F">
              <a:alpha val="74901"/>
            </a:srgbClr>
          </a:solidFill>
          <a:ln w="3047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186482" y="445436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565696" y="4711660"/>
            <a:ext cx="318706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Remote &amp; International</a:t>
            </a:r>
            <a:endParaRPr sz="2200" b="0" i="0" u="none" strike="noStrike" cap="none"/>
          </a:p>
        </p:txBody>
      </p:sp>
      <p:sp>
        <p:nvSpPr>
          <p:cNvPr id="168" name="Google Shape;168;p19"/>
          <p:cNvSpPr/>
          <p:nvPr/>
        </p:nvSpPr>
        <p:spPr>
          <a:xfrm>
            <a:off x="5565696" y="5202079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Flexible work options</a:t>
            </a:r>
            <a:endParaRPr sz="1750" b="0" i="0" u="none" strike="noStrike" cap="none"/>
          </a:p>
        </p:txBody>
      </p:sp>
      <p:sp>
        <p:nvSpPr>
          <p:cNvPr id="169" name="Google Shape;169;p19"/>
          <p:cNvSpPr/>
          <p:nvPr/>
        </p:nvSpPr>
        <p:spPr>
          <a:xfrm>
            <a:off x="9640133" y="4454366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484E5F">
              <a:alpha val="74901"/>
            </a:srgbClr>
          </a:solidFill>
          <a:ln w="3047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9609653" y="4454366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9988868" y="4711660"/>
            <a:ext cx="286035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Continuous Learning</a:t>
            </a:r>
            <a:endParaRPr sz="2200" b="0" i="0" u="none" strike="noStrike" cap="none"/>
          </a:p>
        </p:txBody>
      </p:sp>
      <p:sp>
        <p:nvSpPr>
          <p:cNvPr id="172" name="Google Shape;172;p19"/>
          <p:cNvSpPr/>
          <p:nvPr/>
        </p:nvSpPr>
        <p:spPr>
          <a:xfrm>
            <a:off x="9988868" y="5202079"/>
            <a:ext cx="359033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Online platforms, open source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1864638" y="1163479"/>
            <a:ext cx="10901124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550"/>
              <a:buFont typeface="Mona Sans"/>
              <a:buNone/>
            </a:pPr>
            <a:r>
              <a:rPr lang="en-US" sz="35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Success Story: From Beginner to Senior Developer</a:t>
            </a:r>
            <a:endParaRPr sz="3550" b="0" i="0" u="none" strike="noStrike" cap="none"/>
          </a:p>
        </p:txBody>
      </p:sp>
      <p:pic>
        <p:nvPicPr>
          <p:cNvPr id="179" name="Google Shape;17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524244"/>
            <a:ext cx="6407944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1020604" y="3431500"/>
            <a:ext cx="301799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Master Fundamentals</a:t>
            </a:r>
            <a:endParaRPr sz="2200" b="0" i="0" u="none" strike="noStrike" cap="none"/>
          </a:p>
        </p:txBody>
      </p:sp>
      <p:sp>
        <p:nvSpPr>
          <p:cNvPr id="181" name="Google Shape;181;p20"/>
          <p:cNvSpPr/>
          <p:nvPr/>
        </p:nvSpPr>
        <p:spPr>
          <a:xfrm>
            <a:off x="1020604" y="3921919"/>
            <a:ext cx="595431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Java core, Spring Core concepts</a:t>
            </a:r>
            <a:endParaRPr sz="1750" b="0" i="0" u="none" strike="noStrike" cap="none"/>
          </a:p>
        </p:txBody>
      </p:sp>
      <p:pic>
        <p:nvPicPr>
          <p:cNvPr id="182" name="Google Shape;182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8548" y="2184083"/>
            <a:ext cx="640806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7655362" y="309133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Build Portfolio</a:t>
            </a:r>
            <a:endParaRPr sz="2200" b="0" i="0" u="none" strike="noStrike" cap="none"/>
          </a:p>
        </p:txBody>
      </p:sp>
      <p:sp>
        <p:nvSpPr>
          <p:cNvPr id="184" name="Google Shape;184;p20"/>
          <p:cNvSpPr/>
          <p:nvPr/>
        </p:nvSpPr>
        <p:spPr>
          <a:xfrm>
            <a:off x="7655362" y="3581757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Secure REST APIs, microservices, cloud</a:t>
            </a:r>
            <a:endParaRPr sz="1750" b="0" i="0" u="none" strike="noStrike" cap="none"/>
          </a:p>
        </p:txBody>
      </p:sp>
      <p:pic>
        <p:nvPicPr>
          <p:cNvPr id="185" name="Google Shape;18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5078611"/>
            <a:ext cx="6407944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1020604" y="5985867"/>
            <a:ext cx="383833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Community &amp; Certifications</a:t>
            </a:r>
            <a:endParaRPr sz="2200" b="0" i="0" u="none" strike="noStrike" cap="none"/>
          </a:p>
        </p:txBody>
      </p:sp>
      <p:sp>
        <p:nvSpPr>
          <p:cNvPr id="187" name="Google Shape;187;p20"/>
          <p:cNvSpPr/>
          <p:nvPr/>
        </p:nvSpPr>
        <p:spPr>
          <a:xfrm>
            <a:off x="1020604" y="6476286"/>
            <a:ext cx="595431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Open source, engagement</a:t>
            </a:r>
            <a:endParaRPr sz="1750" b="0" i="0" u="none" strike="noStrike" cap="none"/>
          </a:p>
        </p:txBody>
      </p:sp>
      <p:pic>
        <p:nvPicPr>
          <p:cNvPr id="188" name="Google Shape;188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8548" y="4738449"/>
            <a:ext cx="6408063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7655362" y="56457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lang="en-US" sz="22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Senior Leadership</a:t>
            </a:r>
            <a:endParaRPr sz="2200" b="0" i="0" u="none" strike="noStrike" cap="none"/>
          </a:p>
        </p:txBody>
      </p:sp>
      <p:sp>
        <p:nvSpPr>
          <p:cNvPr id="190" name="Google Shape;190;p20"/>
          <p:cNvSpPr/>
          <p:nvPr/>
        </p:nvSpPr>
        <p:spPr>
          <a:xfrm>
            <a:off x="7655362" y="613612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Design scalable, high-performance systems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699254" y="688538"/>
            <a:ext cx="6335435" cy="79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2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950"/>
              <a:buFont typeface="Mona Sans"/>
              <a:buNone/>
            </a:pPr>
            <a:r>
              <a:rPr lang="en-US" sz="49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The Future Outlook:</a:t>
            </a:r>
            <a:endParaRPr sz="4950" b="0" i="0" u="none" strike="noStrike" cap="none"/>
          </a:p>
        </p:txBody>
      </p:sp>
      <p:sp>
        <p:nvSpPr>
          <p:cNvPr id="197" name="Google Shape;197;p21"/>
          <p:cNvSpPr/>
          <p:nvPr/>
        </p:nvSpPr>
        <p:spPr>
          <a:xfrm>
            <a:off x="642699" y="1664018"/>
            <a:ext cx="6448544" cy="158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2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950"/>
              <a:buFont typeface="Mona Sans"/>
              <a:buNone/>
            </a:pPr>
            <a:r>
              <a:rPr lang="en-US" sz="4950" b="0" i="0" u="none" strike="noStrike" cap="non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Why Invest in Spring Boot Skills Now?</a:t>
            </a:r>
            <a:endParaRPr sz="4950" b="0" i="0" u="none" strike="noStrike" cap="none"/>
          </a:p>
        </p:txBody>
      </p:sp>
      <p:pic>
        <p:nvPicPr>
          <p:cNvPr id="198" name="Google Shape;198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6777" y="711518"/>
            <a:ext cx="6448544" cy="644854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/>
          <p:nvPr/>
        </p:nvSpPr>
        <p:spPr>
          <a:xfrm>
            <a:off x="642699" y="7670661"/>
            <a:ext cx="91797" cy="91797"/>
          </a:xfrm>
          <a:prstGeom prst="roundRect">
            <a:avLst>
              <a:gd name="adj" fmla="val 49805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918091" y="7573208"/>
            <a:ext cx="2819757" cy="28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00"/>
              <a:buFont typeface="Mona Sans"/>
              <a:buNone/>
            </a:pPr>
            <a:r>
              <a:rPr lang="en-US" sz="18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Cloud-Native Dominance</a:t>
            </a:r>
            <a:endParaRPr sz="1800" b="0" i="0" u="none" strike="noStrike" cap="none"/>
          </a:p>
        </p:txBody>
      </p:sp>
      <p:sp>
        <p:nvSpPr>
          <p:cNvPr id="201" name="Google Shape;201;p21"/>
          <p:cNvSpPr/>
          <p:nvPr/>
        </p:nvSpPr>
        <p:spPr>
          <a:xfrm>
            <a:off x="918091" y="7970282"/>
            <a:ext cx="4019907" cy="29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lang="en-US" sz="14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Enterprise software will rely on it.</a:t>
            </a:r>
            <a:endParaRPr sz="1400" b="0" i="0" u="none" strike="noStrike" cap="none"/>
          </a:p>
        </p:txBody>
      </p:sp>
      <p:sp>
        <p:nvSpPr>
          <p:cNvPr id="202" name="Google Shape;202;p21"/>
          <p:cNvSpPr/>
          <p:nvPr/>
        </p:nvSpPr>
        <p:spPr>
          <a:xfrm>
            <a:off x="5167432" y="7670661"/>
            <a:ext cx="91797" cy="91797"/>
          </a:xfrm>
          <a:prstGeom prst="roundRect">
            <a:avLst>
              <a:gd name="adj" fmla="val 49805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442823" y="7573208"/>
            <a:ext cx="2295406" cy="28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00"/>
              <a:buFont typeface="Mona Sans"/>
              <a:buNone/>
            </a:pPr>
            <a:r>
              <a:rPr lang="en-US" sz="18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Evolving Ecosystem</a:t>
            </a:r>
            <a:endParaRPr sz="1800" b="0" i="0" u="none" strike="noStrike" cap="none"/>
          </a:p>
        </p:txBody>
      </p:sp>
      <p:sp>
        <p:nvSpPr>
          <p:cNvPr id="204" name="Google Shape;204;p21"/>
          <p:cNvSpPr/>
          <p:nvPr/>
        </p:nvSpPr>
        <p:spPr>
          <a:xfrm>
            <a:off x="5442823" y="7970282"/>
            <a:ext cx="4020026" cy="29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lang="en-US" sz="14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AI &amp; reactive system integration.</a:t>
            </a:r>
            <a:endParaRPr sz="1400" b="0" i="0" u="none" strike="noStrike" cap="none"/>
          </a:p>
        </p:txBody>
      </p:sp>
      <p:sp>
        <p:nvSpPr>
          <p:cNvPr id="205" name="Google Shape;205;p21"/>
          <p:cNvSpPr/>
          <p:nvPr/>
        </p:nvSpPr>
        <p:spPr>
          <a:xfrm>
            <a:off x="9692283" y="7670661"/>
            <a:ext cx="91797" cy="91797"/>
          </a:xfrm>
          <a:prstGeom prst="roundRect">
            <a:avLst>
              <a:gd name="adj" fmla="val 498055"/>
            </a:avLst>
          </a:prstGeom>
          <a:solidFill>
            <a:srgbClr val="373B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9967674" y="7573208"/>
            <a:ext cx="3614738" cy="286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800"/>
              <a:buFont typeface="Mona Sans"/>
              <a:buNone/>
            </a:pPr>
            <a:r>
              <a:rPr lang="en-US" sz="1800" b="0" i="0" u="none" strike="noStrike" cap="non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Job Security &amp; Lucrative Salaries</a:t>
            </a:r>
            <a:endParaRPr sz="1800" b="0" i="0" u="none" strike="noStrike" cap="none"/>
          </a:p>
        </p:txBody>
      </p:sp>
      <p:sp>
        <p:nvSpPr>
          <p:cNvPr id="207" name="Google Shape;207;p21"/>
          <p:cNvSpPr/>
          <p:nvPr/>
        </p:nvSpPr>
        <p:spPr>
          <a:xfrm>
            <a:off x="9967674" y="7970282"/>
            <a:ext cx="4019907" cy="29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lang="en-US" sz="1400" b="0" i="0" u="none" strike="noStrike" cap="non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High demand for skilled developers.</a:t>
            </a:r>
            <a:endParaRPr sz="140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73B48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734020" y="744736"/>
            <a:ext cx="13162359" cy="393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4848"/>
              </a:lnSpc>
              <a:spcBef>
                <a:spcPts val="0"/>
              </a:spcBef>
              <a:spcAft>
                <a:spcPts val="0"/>
              </a:spcAft>
              <a:buClr>
                <a:srgbClr val="D4D6DD"/>
              </a:buClr>
              <a:buSzPts val="8250"/>
              <a:buFont typeface="Mona Sans"/>
              <a:buNone/>
            </a:pPr>
            <a:r>
              <a:rPr lang="en-US" sz="8250" b="0" i="0" u="none" strike="noStrike" cap="none">
                <a:solidFill>
                  <a:srgbClr val="D4D6DD"/>
                </a:solidFill>
                <a:latin typeface="Mona Sans"/>
                <a:ea typeface="Mona Sans"/>
                <a:cs typeface="Mona Sans"/>
                <a:sym typeface="Mona Sans"/>
              </a:rPr>
              <a:t>Ready to Launch Your Java Spring Boot Career in 2025?</a:t>
            </a:r>
            <a:endParaRPr sz="8250" b="0" i="0" u="none" strike="noStrike" cap="none"/>
          </a:p>
        </p:txBody>
      </p:sp>
      <p:sp>
        <p:nvSpPr>
          <p:cNvPr id="216" name="Google Shape;216;p22"/>
          <p:cNvSpPr/>
          <p:nvPr/>
        </p:nvSpPr>
        <p:spPr>
          <a:xfrm>
            <a:off x="734020" y="4991933"/>
            <a:ext cx="4247674" cy="629126"/>
          </a:xfrm>
          <a:prstGeom prst="roundRect">
            <a:avLst>
              <a:gd name="adj" fmla="val 480067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0576" y="5109924"/>
            <a:ext cx="314563" cy="39314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943689" y="5830729"/>
            <a:ext cx="2933581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Mona Sans"/>
              <a:buNone/>
            </a:pPr>
            <a:r>
              <a:rPr lang="en-US" sz="205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Embrace the Roadmap</a:t>
            </a:r>
            <a:endParaRPr sz="2050" b="0" i="0" u="none" strike="noStrike" cap="none"/>
          </a:p>
        </p:txBody>
      </p:sp>
      <p:sp>
        <p:nvSpPr>
          <p:cNvPr id="219" name="Google Shape;219;p22"/>
          <p:cNvSpPr/>
          <p:nvPr/>
        </p:nvSpPr>
        <p:spPr>
          <a:xfrm>
            <a:off x="943689" y="6284119"/>
            <a:ext cx="3828336" cy="33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unnel Sans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Learn, build, secure, deploy</a:t>
            </a:r>
            <a:endParaRPr sz="1650" b="0" i="0" u="none" strike="noStrike" cap="none"/>
          </a:p>
        </p:txBody>
      </p:sp>
      <p:sp>
        <p:nvSpPr>
          <p:cNvPr id="220" name="Google Shape;220;p22"/>
          <p:cNvSpPr/>
          <p:nvPr/>
        </p:nvSpPr>
        <p:spPr>
          <a:xfrm>
            <a:off x="5191363" y="4991933"/>
            <a:ext cx="4247674" cy="629126"/>
          </a:xfrm>
          <a:prstGeom prst="roundRect">
            <a:avLst>
              <a:gd name="adj" fmla="val 480067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7918" y="5109924"/>
            <a:ext cx="314563" cy="39314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/>
          <p:nvPr/>
        </p:nvSpPr>
        <p:spPr>
          <a:xfrm>
            <a:off x="5401032" y="5830729"/>
            <a:ext cx="2621637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Mona Sans"/>
              <a:buNone/>
            </a:pPr>
            <a:r>
              <a:rPr lang="en-US" sz="205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Tap Thriving Market</a:t>
            </a:r>
            <a:endParaRPr sz="2050" b="0" i="0" u="none" strike="noStrike" cap="none"/>
          </a:p>
        </p:txBody>
      </p:sp>
      <p:sp>
        <p:nvSpPr>
          <p:cNvPr id="223" name="Google Shape;223;p22"/>
          <p:cNvSpPr/>
          <p:nvPr/>
        </p:nvSpPr>
        <p:spPr>
          <a:xfrm>
            <a:off x="5401032" y="6284119"/>
            <a:ext cx="3828336" cy="33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unnel Sans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Global opportunities, competitive pay</a:t>
            </a:r>
            <a:endParaRPr sz="1650" b="0" i="0" u="none" strike="noStrike" cap="none"/>
          </a:p>
        </p:txBody>
      </p:sp>
      <p:sp>
        <p:nvSpPr>
          <p:cNvPr id="224" name="Google Shape;224;p22"/>
          <p:cNvSpPr/>
          <p:nvPr/>
        </p:nvSpPr>
        <p:spPr>
          <a:xfrm>
            <a:off x="9648706" y="4991933"/>
            <a:ext cx="4247674" cy="629126"/>
          </a:xfrm>
          <a:prstGeom prst="roundRect">
            <a:avLst>
              <a:gd name="adj" fmla="val 480067"/>
            </a:avLst>
          </a:prstGeom>
          <a:solidFill>
            <a:srgbClr val="E2E4E9"/>
          </a:solidFill>
          <a:ln w="9525" cap="flat" cmpd="sng">
            <a:solidFill>
              <a:srgbClr val="C8CA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15261" y="5109924"/>
            <a:ext cx="314563" cy="39314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9858375" y="5830729"/>
            <a:ext cx="3070860" cy="327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Mona Sans"/>
              <a:buNone/>
            </a:pPr>
            <a:r>
              <a:rPr lang="en-US" sz="2050" b="0" i="0" u="none" strike="noStrike" cap="none">
                <a:solidFill>
                  <a:srgbClr val="FFFFFF"/>
                </a:solidFill>
                <a:latin typeface="Mona Sans"/>
                <a:ea typeface="Mona Sans"/>
                <a:cs typeface="Mona Sans"/>
                <a:sym typeface="Mona Sans"/>
              </a:rPr>
              <a:t>Join Vibrant Community</a:t>
            </a:r>
            <a:endParaRPr sz="2050" b="0" i="0" u="none" strike="noStrike" cap="none"/>
          </a:p>
        </p:txBody>
      </p:sp>
      <p:sp>
        <p:nvSpPr>
          <p:cNvPr id="227" name="Google Shape;227;p22"/>
          <p:cNvSpPr/>
          <p:nvPr/>
        </p:nvSpPr>
        <p:spPr>
          <a:xfrm>
            <a:off x="9858375" y="6284119"/>
            <a:ext cx="3828336" cy="33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Funnel Sans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Shape backend development future</a:t>
            </a:r>
            <a:endParaRPr sz="1650" b="0" i="0" u="none" strike="noStrike" cap="none"/>
          </a:p>
        </p:txBody>
      </p:sp>
      <p:sp>
        <p:nvSpPr>
          <p:cNvPr id="228" name="Google Shape;228;p22"/>
          <p:cNvSpPr/>
          <p:nvPr/>
        </p:nvSpPr>
        <p:spPr>
          <a:xfrm>
            <a:off x="734020" y="7065288"/>
            <a:ext cx="13162359" cy="41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9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Funnel Sans"/>
              <a:buNone/>
            </a:pPr>
            <a:r>
              <a:rPr lang="en-US" sz="2050" b="0" i="0" u="none" strike="noStrike" cap="non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Your journey to becoming a Spring Boot expert starts today!</a:t>
            </a:r>
            <a:endParaRPr sz="20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k. syed</cp:lastModifiedBy>
  <cp:revision>1</cp:revision>
  <dcterms:modified xsi:type="dcterms:W3CDTF">2025-09-16T03:43:46Z</dcterms:modified>
</cp:coreProperties>
</file>